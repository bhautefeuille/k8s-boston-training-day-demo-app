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282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2395728"/>
            <a:ext cx="329184" cy="329184"/>
          </a:xfrm>
          <a:prstGeom prst="ellipse">
            <a:avLst/>
          </a:prstGeom>
          <a:solidFill>
            <a:srgbClr val="326CE5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92262" y="3171622"/>
            <a:ext cx="329184" cy="329184"/>
          </a:xfrm>
          <a:prstGeom prst="ellipse">
            <a:avLst/>
          </a:prstGeom>
          <a:solidFill>
            <a:srgbClr val="326CE5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16368" y="3493008"/>
            <a:ext cx="329184" cy="329184"/>
          </a:xfrm>
          <a:prstGeom prst="ellipse">
            <a:avLst/>
          </a:prstGeom>
          <a:solidFill>
            <a:srgbClr val="326CE5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40474" y="3171622"/>
            <a:ext cx="329184" cy="329184"/>
          </a:xfrm>
          <a:prstGeom prst="ellipse">
            <a:avLst/>
          </a:prstGeom>
          <a:solidFill>
            <a:srgbClr val="326CE5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19088" y="2395728"/>
            <a:ext cx="329184" cy="329184"/>
          </a:xfrm>
          <a:prstGeom prst="ellipse">
            <a:avLst/>
          </a:prstGeom>
          <a:solidFill>
            <a:srgbClr val="326CE5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40474" y="1619834"/>
            <a:ext cx="329184" cy="329184"/>
          </a:xfrm>
          <a:prstGeom prst="ellipse">
            <a:avLst/>
          </a:prstGeom>
          <a:solidFill>
            <a:srgbClr val="326CE5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16368" y="1298448"/>
            <a:ext cx="329184" cy="329184"/>
          </a:xfrm>
          <a:prstGeom prst="ellipse">
            <a:avLst/>
          </a:prstGeom>
          <a:solidFill>
            <a:srgbClr val="326CE5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92262" y="1619834"/>
            <a:ext cx="329184" cy="329184"/>
          </a:xfrm>
          <a:prstGeom prst="ellipse">
            <a:avLst/>
          </a:prstGeom>
          <a:solidFill>
            <a:srgbClr val="326CE5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78040" y="2057400"/>
            <a:ext cx="1005840" cy="100584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04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5087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48640" y="21945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empty Codespace to a running eCommerce app — in 12 steps.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40233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2024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40233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40233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Codespaces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/ Intermediate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12-step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444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kind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K8s in Docker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15184" y="132588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24912" y="1463040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24912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82112" y="1444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Helm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82112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 for K8s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132588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82896" y="1463040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8289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0096" y="1444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kubectl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0096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K8s command-line tool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31152" y="132588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40880" y="1463040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1444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cluster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0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control-plane + 1 worker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6928" y="2560320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2542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cluster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&amp; cluster info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15184" y="242316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24912" y="2560320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24912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82112" y="2542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completion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82112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Tab-complete everything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242316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82896" y="2560320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82896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0096" y="2542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0096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k instead of kubectl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31152" y="242316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040880" y="2560320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0408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498080" y="2542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it!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49808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pods &amp; services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52044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66928" y="3657600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66928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24128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demo app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24128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eCommerce frontend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615184" y="352044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724912" y="3657600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724912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182112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pods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182112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running workloads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73168" y="352044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882896" y="3657600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82896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340096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services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340096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networking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931152" y="352044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040880" y="3657600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04088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498080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Port-forward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49808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 in a browser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463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630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371600"/>
            <a:ext cx="6309360" cy="28346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4173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Codespace (Linux VM)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783080"/>
            <a:ext cx="585216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783080"/>
            <a:ext cx="5852160" cy="292608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cluster (Kubernetes-IN-Docker)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783080"/>
            <a:ext cx="5852160" cy="292608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17830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cluster (Kubernetes-IN-Docker)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2240280"/>
            <a:ext cx="24688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88920" y="2240280"/>
            <a:ext cx="246888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88920" y="2240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Control-plane node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6060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0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</a:t>
            </a:r>
            <a:endParaRPr lang="en-US" sz="10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controller-mgr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2240280"/>
            <a:ext cx="27889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0" y="2240280"/>
            <a:ext cx="278892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22402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23560" y="263347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23560" y="26334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263347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26334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60920" y="263347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60920" y="26334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23560" y="299923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23560" y="29992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92240" y="299923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92240" y="29992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60920" y="299923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60920" y="29992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3429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demo app pods)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65960" y="2011680"/>
            <a:ext cx="5943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82880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port-forward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runs a Kubernetes cluster as Docker containers — one per node — right inside your Codespace.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kind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kind = Kubernetes IN Docker.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up a real cluster in seconds — no cloud account needed.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Download the binary, make it executable, move it to your PATH.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kind version confirms the install.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0" y="1554480"/>
            <a:ext cx="329184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0468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4184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7900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59552" y="1847088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-Lo ./kind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https://kind.sigs.k8s.io/dl/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v0.31.0/kind-linux-amd64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./kind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mv ./kind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/usr/local/bin/kind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version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is perfect for local dev and CI. For production, you'd use EKS, GKE, AKS, or kubeadm.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Helm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Helm = the package manager for Kubernetes.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 complex apps (Postgres, ingress controllers, monitoring stacks) with one command.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the Buildkite-hosted Helm apt repo, then apt install.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Helm is to K8s what brew or apt is to Linux.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0" y="1554480"/>
            <a:ext cx="329184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0468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4184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7900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59552" y="1847088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-y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curl gpg apt-transport-https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&lt;gpgkey-url&gt; |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gpg --dearmor | sudo tee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/usr/share/keyrings/helm.gpg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"deb [...] main" |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sudo tee /etc/apt/sources...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update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helm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FYI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won't use Helm in this lab, but you'll need it for the next ones.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kubectl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kubectl = the official Kubernetes CLI.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It's how you talk to the API server: get, apply, describe, delete, logs, exec…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Grab the latest stable version, make it executable, move to PATH.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kubectl version --client confirms it works without needing a cluster yet.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0" y="1554480"/>
            <a:ext cx="329184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0468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4184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7900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59552" y="1847088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-LO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https://dl.k8s.io/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release/stable.txt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V=$(cat stable.txt)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-LO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https://dl.k8s.io/release/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$V/bin/linux/amd64/kubectl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kubectl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mv kubectl /usr/local/bin/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version --client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2-node kind cluster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name: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control-plane + 1 worker (defined in YAML).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kind starts 2 Docker containers, each running a kubelet.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~30–60 seconds.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42062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381304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" y="38130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" y="38130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39959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create cluster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training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kind-config.yaml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554480"/>
            <a:ext cx="37490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training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66360" y="1965960"/>
            <a:ext cx="15544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66360" y="1965960"/>
            <a:ext cx="155448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66360" y="1965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control-plane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23317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training-control-plane</a:t>
            </a:r>
            <a:endParaRPr lang="en-US" sz="900" dirty="0"/>
          </a:p>
          <a:p>
            <a:pPr marL="0" indent="0" algn="ctr">
              <a:spcAft>
                <a:spcPts val="200"/>
              </a:spcAft>
              <a:buNone/>
            </a:pPr>
            <a:endParaRPr lang="en-US" sz="9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etcd · sched.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1965960"/>
            <a:ext cx="15544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03720" y="1965960"/>
            <a:ext cx="155448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1965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23317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training-worker</a:t>
            </a:r>
            <a:endParaRPr lang="en-US" sz="900" dirty="0"/>
          </a:p>
          <a:p>
            <a:pPr marL="0" indent="0" algn="ctr">
              <a:spcAft>
                <a:spcPts val="200"/>
              </a:spcAft>
              <a:buNone/>
            </a:pPr>
            <a:endParaRPr lang="en-US" sz="9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· runs pods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20840" y="26060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3520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nodes are Docker containers running kubelet inside.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cluster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nodes: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Should show 2 nodes in Ready state.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cluster-info: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API server URL and core services.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something's off: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 Docker is running, then re-run kind create cluster.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2080" y="1554480"/>
            <a:ext cx="347472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2180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5896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9612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76672" y="1847088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          STATUS  ROLES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training-control-plane     Ready   control-plane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training-worker            Ready   &lt;none&gt;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cluster-info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 control plane is running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 https://127.0.0.1:46443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 &amp; 7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Tab-completion + the k alias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life: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You'll type kubectl hundreds of times per day.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Auto-complete: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 through resources, namespaces, pod names.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alias: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Save 6 keystrokes every command. Worth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kpa = 'kubectl get pods -A' — shows pods in every namespace.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1554480"/>
            <a:ext cx="329184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0468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4184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7900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59552" y="1847088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-y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bash-completion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&lt;&lt;'EOF' &gt;&gt; ~/.bashrc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 k=kubectl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&lt;(kubectl completion bash)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-F __start_kubectl 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 kpa='kubectl get pods -A'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~/.bashrc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it!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get pods -A: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Lists pods across all namespaces — you'll see kube-system pods (CoreDNS, kindnet, kube-proxy).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get svc -A: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Lists services everywhere — kubernetes (default) and kube-dns are always there.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Namespace · Name · Status · Age.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works: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Type k get po&lt;Tab&gt; and watch completion expand.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 is short for --all-namespaces. Drop it to see only the default namespace.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1554480"/>
            <a:ext cx="365760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3892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7608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1324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847088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get pods -A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    NAME                 READY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kube-system   coredns-xxxxx        1/1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kube-system   etcd-...             1/1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kube-system   kindnet-xxxxx        1/1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kube-system   kube-proxy-xxxxx     1/1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get svc -A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     kubernetes   ClusterIP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kube-system  kube-dns     ClusterIP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777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demo eCommerce app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demo-app — keeps our stuff isolated.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Odigos simple-demo — a microservices product-listing page.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Reads the YAML and tells K8s 'make this real'.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schedules: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Pods land on the worker node automatically.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4023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39959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" y="39959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" y="39959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41788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ns demo-app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&lt;url&gt; -n demo-app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0233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namespace: demo-app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55080" y="192024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283464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28346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283464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0" y="28346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333756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337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333756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3337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98080" y="333756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0" y="3337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20840" y="2240280"/>
            <a:ext cx="0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766560" y="2240280"/>
            <a:ext cx="0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12280" y="2240280"/>
            <a:ext cx="1234440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talks to ~6 microservices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10 &amp; 11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what you deployed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2336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— k get pods -A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deployable unit in K8s.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one or more containers.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its own IP inside the cluster.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STATUS = Running.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36576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390448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86968" y="39044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39044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40873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get pods -n demo-app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40233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402336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— k get svc -A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9659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network endpoint.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Load-balances across matching pods.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come and go — services don't.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type: ClusterIP (internal only).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794760"/>
            <a:ext cx="36576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56048" y="390448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93208" y="39044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30368" y="39044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10912" y="40873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get svc -n demo-app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777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Port-forward and open the app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4630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508760"/>
            <a:ext cx="14630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31720" y="1508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port-forward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508760"/>
            <a:ext cx="14630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1508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frontend:8080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508760"/>
            <a:ext cx="14630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508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508760"/>
            <a:ext cx="914400" cy="731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0" y="1508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65960" y="187452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0" y="187452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89520" y="187452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 a local port to a service inside the cluster.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--address 0.0.0.0: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Listen on all interfaces — required in Codespaces.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 in the background so your shell stays usable.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606040"/>
            <a:ext cx="40233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73168" y="271576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10328" y="27157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47488" y="271576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28032" y="289864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--address 0.0.0.0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svc/frontend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demo-app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8080:8080 &amp;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43159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forwarded port in your Codespace and the eCommerce homepage loads.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JUST DID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 running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installed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kind, kubectl, Helm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created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nodes, all yours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running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microservices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76656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working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a real Kubernetes cluster on your laptop.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you'd do on EKS, GKE, or AKS — kubectl apply, scaling, rolling updates, debugging — works exactly the same here. That's the magic of Kubernetes.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1451</Words>
  <Application>Microsoft Macintosh PowerPoint</Application>
  <PresentationFormat>On-screen Show (16:9)</PresentationFormat>
  <Paragraphs>298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First Kubernetes Cluster</dc:title>
  <dc:subject>PptxGenJS Presentation</dc:subject>
  <dc:creator>K8s Boston Training Day</dc:creator>
  <cp:lastModifiedBy>Benjamin Hautefeuille</cp:lastModifiedBy>
  <cp:revision>2</cp:revision>
  <dcterms:created xsi:type="dcterms:W3CDTF">2026-05-01T23:17:54Z</dcterms:created>
  <dcterms:modified xsi:type="dcterms:W3CDTF">2026-05-01T23:26:45Z</dcterms:modified>
</cp:coreProperties>
</file>